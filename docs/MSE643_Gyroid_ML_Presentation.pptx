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the logo box for the real IIT Kanpur logo before presenting (Insert &gt; Picture). Link: https://www.iitk.ac.in/data/IITK.png.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run 45-60 seconds now with the extra detail. TPMS = Triply Periodic Minimal Surface, worth defining out loud since it's an acronym.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framing slide: FEA works fine but is slow, so we use ML instead once we already have enough simulation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reasonably fast, it's background. Next slide opens the actual Excel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raw file. Good slide to open the Excel file live if asked, or show df.head() from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one-hot encoding: stops the model thinking one shape is 'bigger' than another. If asked why only Linear Regression gets polynomial features: trees create non-linearity through splits already, so it would just be redundant noise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'weights' means: each input feature gets a number showing how much it pushes stress up or down. Ordinary Least Squares just means it picks the weights that make the total squared error as small as possible, solved directly rather than searched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a 'leaf' is: the end point of a branch, once the tree stops asking questions. Overfitting means the model does great on training data but worse on new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just point at the lines and note they fan out by fill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do well, but Linear Regression is a bit more accurate, because the real relationship here is close to a straight line once we added those extra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the earlier EDA slide: strain and fill percentage are what actually matter, matching simple physics (stress = stiffness times strain).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right-side plot matters more than it looks: no pattern in the errors means the mistakes are just small and random, not systematic.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the one-line takeaway: a simple model worked well because the underlying relationship here is genuinely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86200" y="320040"/>
            <a:ext cx="1371600" cy="1005840"/>
          </a:xfrm>
          <a:prstGeom prst="rect">
            <a:avLst/>
          </a:prstGeom>
          <a:solidFill>
            <a:srgbClr val="FFFFFF"/>
          </a:solidFill>
          <a:ln w="12700">
            <a:solidFill>
              <a:srgbClr val="BFBFBF"/>
            </a:solidFill>
            <a:prstDash val="solid"/>
          </a:ln>
        </p:spPr>
      </p:sp>
      <p:sp>
        <p:nvSpPr>
          <p:cNvPr id="3" name="Text 1"/>
          <p:cNvSpPr/>
          <p:nvPr/>
        </p:nvSpPr>
        <p:spPr>
          <a:xfrm>
            <a:off x="3886200" y="320040"/>
            <a:ext cx="1371600" cy="1005840"/>
          </a:xfrm>
          <a:prstGeom prst="rect">
            <a:avLst/>
          </a:prstGeom>
          <a:noFill/>
          <a:ln/>
        </p:spPr>
        <p:txBody>
          <a:bodyPr wrap="square" lIns="0" tIns="0" rIns="0" bIns="0" rtlCol="0" anchor="ctr"/>
          <a:lstStyle/>
          <a:p>
            <a:pPr algn="ctr" indent="0" marL="0">
              <a:buNone/>
            </a:pPr>
            <a:r>
              <a:rPr lang="en-US" sz="1200" b="1" dirty="0">
                <a:solidFill>
                  <a:srgbClr val="595959"/>
                </a:solidFill>
                <a:latin typeface="Calibri" pitchFamily="34" charset="0"/>
                <a:ea typeface="Calibri" pitchFamily="34" charset="-122"/>
                <a:cs typeface="Calibri" pitchFamily="34" charset="-120"/>
              </a:rPr>
              <a:t>IIT KANPUR</a:t>
            </a:r>
            <a:endParaRPr lang="en-US" sz="1200" dirty="0"/>
          </a:p>
          <a:p>
            <a:pPr algn="ctr" indent="0" marL="0">
              <a:buNone/>
            </a:pPr>
            <a:r>
              <a:rPr lang="en-US" sz="1200" b="1" dirty="0">
                <a:solidFill>
                  <a:srgbClr val="595959"/>
                </a:solidFill>
                <a:latin typeface="Calibri" pitchFamily="34" charset="0"/>
                <a:ea typeface="Calibri" pitchFamily="34" charset="-122"/>
                <a:cs typeface="Calibri" pitchFamily="34" charset="-120"/>
              </a:rPr>
              <a:t>LOGO</a:t>
            </a:r>
            <a:endParaRPr lang="en-US" sz="1200" dirty="0"/>
          </a:p>
        </p:txBody>
      </p:sp>
      <p:sp>
        <p:nvSpPr>
          <p:cNvPr id="4" name="Text 2"/>
          <p:cNvSpPr/>
          <p:nvPr/>
        </p:nvSpPr>
        <p:spPr>
          <a:xfrm>
            <a:off x="457200" y="1463040"/>
            <a:ext cx="8229600" cy="32004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Department of Materials Science and Engineering</a:t>
            </a:r>
            <a:endParaRPr lang="en-US" sz="1400" dirty="0"/>
          </a:p>
        </p:txBody>
      </p:sp>
      <p:sp>
        <p:nvSpPr>
          <p:cNvPr id="5" name="Text 3"/>
          <p:cNvSpPr/>
          <p:nvPr/>
        </p:nvSpPr>
        <p:spPr>
          <a:xfrm>
            <a:off x="457200" y="1755648"/>
            <a:ext cx="8229600" cy="32004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Indian Institute of Technology Kanpur</a:t>
            </a:r>
            <a:endParaRPr lang="en-US" sz="1400" dirty="0"/>
          </a:p>
        </p:txBody>
      </p:sp>
      <p:sp>
        <p:nvSpPr>
          <p:cNvPr id="6" name="Text 4"/>
          <p:cNvSpPr/>
          <p:nvPr/>
        </p:nvSpPr>
        <p:spPr>
          <a:xfrm>
            <a:off x="640080" y="2331720"/>
            <a:ext cx="7863840" cy="1188720"/>
          </a:xfrm>
          <a:prstGeom prst="rect">
            <a:avLst/>
          </a:prstGeom>
          <a:noFill/>
          <a:ln/>
        </p:spPr>
        <p:txBody>
          <a:bodyPr wrap="square" lIns="0" tIns="0" rIns="0" bIns="0" rtlCol="0" anchor="ctr"/>
          <a:lstStyle/>
          <a:p>
            <a:pPr algn="ctr" indent="0" marL="0">
              <a:lnSpc>
                <a:spcPts val="3200"/>
              </a:lnSpc>
              <a:buNone/>
            </a:pPr>
            <a:r>
              <a:rPr lang="en-US" sz="2600" b="1" dirty="0">
                <a:solidFill>
                  <a:srgbClr val="1F4E79"/>
                </a:solidFill>
                <a:latin typeface="Calibri" pitchFamily="34" charset="0"/>
                <a:ea typeface="Calibri" pitchFamily="34" charset="-122"/>
                <a:cs typeface="Calibri" pitchFamily="34" charset="-120"/>
              </a:rPr>
              <a:t>Machine Learning Assisted Stress Prediction of</a:t>
            </a:r>
            <a:endParaRPr lang="en-US" sz="2600" dirty="0"/>
          </a:p>
          <a:p>
            <a:pPr algn="ctr" indent="0" marL="0">
              <a:lnSpc>
                <a:spcPts val="3200"/>
              </a:lnSpc>
              <a:buNone/>
            </a:pPr>
            <a:r>
              <a:rPr lang="en-US" sz="2600" b="1" dirty="0">
                <a:solidFill>
                  <a:srgbClr val="1F4E79"/>
                </a:solidFill>
                <a:latin typeface="Calibri" pitchFamily="34" charset="0"/>
                <a:ea typeface="Calibri" pitchFamily="34" charset="-122"/>
                <a:cs typeface="Calibri" pitchFamily="34" charset="-120"/>
              </a:rPr>
              <a:t>Gyroid TPMS Structures</a:t>
            </a:r>
            <a:endParaRPr lang="en-US" sz="2600" dirty="0"/>
          </a:p>
        </p:txBody>
      </p:sp>
      <p:sp>
        <p:nvSpPr>
          <p:cNvPr id="7" name="Text 5"/>
          <p:cNvSpPr/>
          <p:nvPr/>
        </p:nvSpPr>
        <p:spPr>
          <a:xfrm>
            <a:off x="457200" y="3611880"/>
            <a:ext cx="8229600" cy="365760"/>
          </a:xfrm>
          <a:prstGeom prst="rect">
            <a:avLst/>
          </a:prstGeom>
          <a:noFill/>
          <a:ln/>
        </p:spPr>
        <p:txBody>
          <a:bodyPr wrap="square" lIns="0" tIns="0" rIns="0" bIns="0" rtlCol="0" anchor="ctr"/>
          <a:lstStyle/>
          <a:p>
            <a:pPr algn="ctr" indent="0" marL="0">
              <a:buNone/>
            </a:pPr>
            <a:r>
              <a:rPr lang="en-US" sz="1600" i="1" dirty="0">
                <a:solidFill>
                  <a:srgbClr val="595959"/>
                </a:solidFill>
                <a:latin typeface="Calibri" pitchFamily="34" charset="0"/>
                <a:ea typeface="Calibri" pitchFamily="34" charset="-122"/>
                <a:cs typeface="Calibri" pitchFamily="34" charset="-120"/>
              </a:rPr>
              <a:t>MSE643: AI/ML Track Project</a:t>
            </a:r>
            <a:endParaRPr lang="en-US" sz="1600" dirty="0"/>
          </a:p>
        </p:txBody>
      </p:sp>
      <p:sp>
        <p:nvSpPr>
          <p:cNvPr id="8" name="Text 6"/>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Presented by: Shakti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Introduction</a:t>
            </a:r>
            <a:endParaRPr lang="en-US" sz="2600" dirty="0"/>
          </a:p>
        </p:txBody>
      </p:sp>
      <p:sp>
        <p:nvSpPr>
          <p:cNvPr id="3" name="Shape 1"/>
          <p:cNvSpPr/>
          <p:nvPr/>
        </p:nvSpPr>
        <p:spPr>
          <a:xfrm>
            <a:off x="457200" y="822960"/>
            <a:ext cx="8229600" cy="0"/>
          </a:xfrm>
          <a:prstGeom prst="line">
            <a:avLst/>
          </a:prstGeom>
          <a:noFill/>
          <a:ln w="12700">
            <a:solidFill>
              <a:srgbClr val="BFBFBF"/>
            </a:solidFill>
            <a:prstDash val="solid"/>
          </a:ln>
        </p:spPr>
      </p:sp>
      <p:sp>
        <p:nvSpPr>
          <p:cNvPr id="4" name="Text 2"/>
          <p:cNvSpPr/>
          <p:nvPr/>
        </p:nvSpPr>
        <p:spPr>
          <a:xfrm>
            <a:off x="548640" y="1188720"/>
            <a:ext cx="5074920" cy="3566160"/>
          </a:xfrm>
          <a:prstGeom prst="rect">
            <a:avLst/>
          </a:prstGeom>
          <a:noFill/>
          <a:ln/>
        </p:spPr>
        <p:txBody>
          <a:bodyPr wrap="square" lIns="0" tIns="0" rIns="0" bIns="0" rtlCol="0" anchor="t"/>
          <a:lstStyle/>
          <a:p>
            <a:pPr marL="203200" indent="-203200">
              <a:lnSpc>
                <a:spcPct val="103000"/>
              </a:lnSpc>
              <a:spcAft>
                <a:spcPts val="1000"/>
              </a:spcAft>
              <a:buSzPct val="100000"/>
              <a:buChar char="●"/>
            </a:pPr>
            <a:r>
              <a:rPr lang="en-US" sz="1280" dirty="0">
                <a:solidFill>
                  <a:srgbClr val="000000"/>
                </a:solidFill>
                <a:latin typeface="Calibri" pitchFamily="34" charset="0"/>
                <a:ea typeface="Calibri" pitchFamily="34" charset="-122"/>
                <a:cs typeface="Calibri" pitchFamily="34" charset="-120"/>
              </a:rPr>
              <a:t>A gyroid is a Triply Periodic Minimal Surface (TPMS): a smooth surface that repeats periodically in all three directions and divides space into two separate, interlocking regions, giving a continuous wavy lattice with no sharp edges or joints.</a:t>
            </a:r>
            <a:endParaRPr lang="en-US" sz="1280" dirty="0"/>
          </a:p>
          <a:p>
            <a:pPr marL="203200" indent="-203200">
              <a:lnSpc>
                <a:spcPct val="103000"/>
              </a:lnSpc>
              <a:spcAft>
                <a:spcPts val="1000"/>
              </a:spcAft>
              <a:buSzPct val="100000"/>
              <a:buChar char="●"/>
            </a:pPr>
            <a:r>
              <a:rPr lang="en-US" sz="1280" dirty="0">
                <a:solidFill>
                  <a:srgbClr val="000000"/>
                </a:solidFill>
                <a:latin typeface="Calibri" pitchFamily="34" charset="0"/>
                <a:ea typeface="Calibri" pitchFamily="34" charset="-122"/>
                <a:cs typeface="Calibri" pitchFamily="34" charset="-120"/>
              </a:rPr>
              <a:t>It is one of the most widely used TPMS lattices in engineering because it is self-supporting during 3D printing (its curves do not need extra support material), it has a fully open, connected pore network, and it spreads stress smoothly through the structure instead of concentrating it at sharp corners the way strut-based lattices do.</a:t>
            </a:r>
            <a:endParaRPr lang="en-US" sz="1280" dirty="0"/>
          </a:p>
          <a:p>
            <a:pPr marL="203200" indent="-203200">
              <a:lnSpc>
                <a:spcPct val="103000"/>
              </a:lnSpc>
              <a:spcAft>
                <a:spcPts val="1000"/>
              </a:spcAft>
              <a:buSzPct val="100000"/>
              <a:buChar char="●"/>
            </a:pPr>
            <a:r>
              <a:rPr lang="en-US" sz="1280" dirty="0">
                <a:solidFill>
                  <a:srgbClr val="000000"/>
                </a:solidFill>
                <a:latin typeface="Calibri" pitchFamily="34" charset="0"/>
                <a:ea typeface="Calibri" pitchFamily="34" charset="-122"/>
                <a:cs typeface="Calibri" pitchFamily="34" charset="-120"/>
              </a:rPr>
              <a:t>These properties make it useful in two very different fields: lightweight load-bearing parts for aerospace, where saving weight without losing strength matters, and bone-mimicking implants for biomedical use, where a porous structure needs to match the stiffness of real bone.</a:t>
            </a:r>
            <a:endParaRPr lang="en-US" sz="1280" dirty="0"/>
          </a:p>
          <a:p>
            <a:pPr marL="203200" indent="-203200">
              <a:lnSpc>
                <a:spcPct val="103000"/>
              </a:lnSpc>
              <a:spcAft>
                <a:spcPts val="1000"/>
              </a:spcAft>
              <a:buSzPct val="100000"/>
              <a:buChar char="●"/>
            </a:pPr>
            <a:r>
              <a:rPr lang="en-US" sz="1280" dirty="0">
                <a:solidFill>
                  <a:srgbClr val="000000"/>
                </a:solidFill>
                <a:latin typeface="Calibri" pitchFamily="34" charset="0"/>
                <a:ea typeface="Calibri" pitchFamily="34" charset="-122"/>
                <a:cs typeface="Calibri" pitchFamily="34" charset="-120"/>
              </a:rPr>
              <a:t>In this project, we look at how the stress a gyroid shape experiences depends on how much it is compressed (strain) and on its geometry: unit cell size, wall thickness, and how much of the volume is filled with material.</a:t>
            </a:r>
            <a:endParaRPr lang="en-US" sz="1280" dirty="0"/>
          </a:p>
        </p:txBody>
      </p:sp>
      <p:pic>
        <p:nvPicPr>
          <p:cNvPr id="5" name="Image 0" descr="/home/claude/project_v2/assets/gyroid_assembly_2.png">    </p:cNvPr>
          <p:cNvPicPr>
            <a:picLocks noChangeAspect="1"/>
          </p:cNvPicPr>
          <p:nvPr/>
        </p:nvPicPr>
        <p:blipFill>
          <a:blip r:embed="rId1"/>
          <a:stretch>
            <a:fillRect/>
          </a:stretch>
        </p:blipFill>
        <p:spPr>
          <a:xfrm>
            <a:off x="5715000" y="1371600"/>
            <a:ext cx="2834640" cy="1209492"/>
          </a:xfrm>
          <a:prstGeom prst="rect">
            <a:avLst/>
          </a:prstGeom>
        </p:spPr>
      </p:pic>
      <p:sp>
        <p:nvSpPr>
          <p:cNvPr id="6" name="Text 3"/>
          <p:cNvSpPr/>
          <p:nvPr/>
        </p:nvSpPr>
        <p:spPr>
          <a:xfrm>
            <a:off x="5715000" y="2672532"/>
            <a:ext cx="2834640" cy="457200"/>
          </a:xfrm>
          <a:prstGeom prst="rect">
            <a:avLst/>
          </a:prstGeom>
          <a:noFill/>
          <a:ln/>
        </p:spPr>
        <p:txBody>
          <a:bodyPr wrap="square" lIns="0" tIns="0" rIns="0" bIns="0" rtlCol="0" anchor="ctr"/>
          <a:lstStyle/>
          <a:p>
            <a:pPr algn="ctr" indent="0" marL="0">
              <a:buNone/>
            </a:pPr>
            <a:r>
              <a:rPr lang="en-US" sz="1100" i="1" dirty="0">
                <a:solidFill>
                  <a:srgbClr val="595959"/>
                </a:solidFill>
                <a:latin typeface="Calibri" pitchFamily="34" charset="0"/>
                <a:ea typeface="Calibri" pitchFamily="34" charset="-122"/>
                <a:cs typeface="Calibri" pitchFamily="34" charset="-120"/>
              </a:rPr>
              <a:t>A gyroid shape (from our Abaqus model)</a:t>
            </a:r>
            <a:endParaRPr lang="en-US" sz="1100" dirty="0"/>
          </a:p>
        </p:txBody>
      </p:sp>
      <p:sp>
        <p:nvSpPr>
          <p:cNvPr id="7" name="Text 4"/>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Problem Statement &amp; Objective</a:t>
            </a:r>
            <a:endParaRPr lang="en-US" sz="2600" dirty="0"/>
          </a:p>
        </p:txBody>
      </p:sp>
      <p:sp>
        <p:nvSpPr>
          <p:cNvPr id="3" name="Shape 1"/>
          <p:cNvSpPr/>
          <p:nvPr/>
        </p:nvSpPr>
        <p:spPr>
          <a:xfrm>
            <a:off x="457200" y="822960"/>
            <a:ext cx="8229600" cy="0"/>
          </a:xfrm>
          <a:prstGeom prst="line">
            <a:avLst/>
          </a:prstGeom>
          <a:noFill/>
          <a:ln w="12700">
            <a:solidFill>
              <a:srgbClr val="BFBFBF"/>
            </a:solidFill>
            <a:prstDash val="solid"/>
          </a:ln>
        </p:spPr>
      </p:sp>
      <p:sp>
        <p:nvSpPr>
          <p:cNvPr id="4" name="Text 2"/>
          <p:cNvSpPr/>
          <p:nvPr/>
        </p:nvSpPr>
        <p:spPr>
          <a:xfrm>
            <a:off x="548640" y="1170432"/>
            <a:ext cx="8046720" cy="274320"/>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Problem</a:t>
            </a:r>
            <a:endParaRPr lang="en-US" sz="1600" dirty="0"/>
          </a:p>
        </p:txBody>
      </p:sp>
      <p:sp>
        <p:nvSpPr>
          <p:cNvPr id="5" name="Text 3"/>
          <p:cNvSpPr/>
          <p:nvPr/>
        </p:nvSpPr>
        <p:spPr>
          <a:xfrm>
            <a:off x="548640" y="1463040"/>
            <a:ext cx="8046720" cy="1371600"/>
          </a:xfrm>
          <a:prstGeom prst="rect">
            <a:avLst/>
          </a:prstGeom>
          <a:noFill/>
          <a:ln/>
        </p:spPr>
        <p:txBody>
          <a:bodyPr wrap="square" lIns="0" tIns="0" rIns="0" bIns="0" rtlCol="0" anchor="t"/>
          <a:lstStyle/>
          <a:p>
            <a:pPr marL="203200" indent="-203200">
              <a:lnSpc>
                <a:spcPct val="1030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Abaqus FEA gives very accurate predictions of how a gyroid structure deforms and carries stress under load, but setting up and running even one simulation, building the geometry, meshing it, defining boundary conditions, and solving the physics, takes real time.</a:t>
            </a:r>
            <a:endParaRPr lang="en-US" sz="1300" dirty="0"/>
          </a:p>
          <a:p>
            <a:pPr marL="203200" indent="-203200">
              <a:lnSpc>
                <a:spcPct val="1030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Every time we want to test a new combination of unit cell length, wall thickness, or fill percentage, we have to repeat this whole process again, which makes exploring many designs slow.</a:t>
            </a:r>
            <a:endParaRPr lang="en-US" sz="1300" dirty="0"/>
          </a:p>
        </p:txBody>
      </p:sp>
      <p:sp>
        <p:nvSpPr>
          <p:cNvPr id="6" name="Text 4"/>
          <p:cNvSpPr/>
          <p:nvPr/>
        </p:nvSpPr>
        <p:spPr>
          <a:xfrm>
            <a:off x="548640" y="2834640"/>
            <a:ext cx="8046720" cy="274320"/>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Objective</a:t>
            </a:r>
            <a:endParaRPr lang="en-US" sz="1600" dirty="0"/>
          </a:p>
        </p:txBody>
      </p:sp>
      <p:sp>
        <p:nvSpPr>
          <p:cNvPr id="7" name="Text 5"/>
          <p:cNvSpPr/>
          <p:nvPr/>
        </p:nvSpPr>
        <p:spPr>
          <a:xfrm>
            <a:off x="548640" y="3127248"/>
            <a:ext cx="8046720" cy="1463040"/>
          </a:xfrm>
          <a:prstGeom prst="rect">
            <a:avLst/>
          </a:prstGeom>
          <a:noFill/>
          <a:ln/>
        </p:spPr>
        <p:txBody>
          <a:bodyPr wrap="square" lIns="0" tIns="0" rIns="0" bIns="0" rtlCol="0" anchor="t"/>
          <a:lstStyle/>
          <a:p>
            <a:pPr marL="203200" indent="-203200">
              <a:lnSpc>
                <a:spcPct val="1030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Build a fast, data-driven model that learns the relationship between a gyroid's geometry and strain and its resulting stress directly from the FEA data we already have, so we get a prediction in milliseconds instead of running a new simulation.</a:t>
            </a:r>
            <a:endParaRPr lang="en-US" sz="1300" dirty="0"/>
          </a:p>
          <a:p>
            <a:pPr marL="203200" indent="-203200">
              <a:lnSpc>
                <a:spcPct val="1030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Train and fairly compare two different approaches, Linear Regression (which assumes a mathematical relationship between inputs and output) and Decision Tree (which learns patterns by splitting the data), then identify which one predicts stress more accurately, and explain why.</a:t>
            </a:r>
            <a:endParaRPr lang="en-US" sz="1300" dirty="0"/>
          </a:p>
        </p:txBody>
      </p:sp>
      <p:sp>
        <p:nvSpPr>
          <p:cNvPr id="8" name="Text 6"/>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From Simulation to Dataset</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Methodology (1 of 5)</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sp>
        <p:nvSpPr>
          <p:cNvPr id="5" name="Text 3"/>
          <p:cNvSpPr/>
          <p:nvPr/>
        </p:nvSpPr>
        <p:spPr>
          <a:xfrm>
            <a:off x="548640" y="1234440"/>
            <a:ext cx="5120640" cy="301752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280" dirty="0">
                <a:solidFill>
                  <a:srgbClr val="000000"/>
                </a:solidFill>
                <a:latin typeface="Calibri" pitchFamily="34" charset="0"/>
                <a:ea typeface="Calibri" pitchFamily="34" charset="-122"/>
                <a:cs typeface="Calibri" pitchFamily="34" charset="-120"/>
              </a:rPr>
              <a:t>We simulated 5 gyroid shapes being compressed in Abaqus, a finite element simulation software, using Ti-6Al-4V as the material, with the bottom plate fully fixed and the top plate pushed down by a set displacement.</a:t>
            </a:r>
            <a:endParaRPr lang="en-US" sz="1280" dirty="0"/>
          </a:p>
          <a:p>
            <a:pPr marL="203200" indent="-203200">
              <a:lnSpc>
                <a:spcPct val="103000"/>
              </a:lnSpc>
              <a:spcAft>
                <a:spcPts val="900"/>
              </a:spcAft>
              <a:buSzPct val="100000"/>
              <a:buChar char="●"/>
            </a:pPr>
            <a:r>
              <a:rPr lang="en-US" sz="1280" dirty="0">
                <a:solidFill>
                  <a:srgbClr val="000000"/>
                </a:solidFill>
                <a:latin typeface="Calibri" pitchFamily="34" charset="0"/>
                <a:ea typeface="Calibri" pitchFamily="34" charset="-122"/>
                <a:cs typeface="Calibri" pitchFamily="34" charset="-120"/>
              </a:rPr>
              <a:t>Each shape was compressed by 5 different amounts, all within the elastic region, so the shape returns to normal after the load is removed.</a:t>
            </a:r>
            <a:endParaRPr lang="en-US" sz="1280" dirty="0"/>
          </a:p>
          <a:p>
            <a:pPr marL="203200" indent="-203200">
              <a:lnSpc>
                <a:spcPct val="103000"/>
              </a:lnSpc>
              <a:spcAft>
                <a:spcPts val="900"/>
              </a:spcAft>
              <a:buSzPct val="100000"/>
              <a:buChar char="●"/>
            </a:pPr>
            <a:r>
              <a:rPr lang="en-US" sz="1280" dirty="0">
                <a:solidFill>
                  <a:srgbClr val="000000"/>
                </a:solidFill>
                <a:latin typeface="Calibri" pitchFamily="34" charset="0"/>
                <a:ea typeface="Calibri" pitchFamily="34" charset="-122"/>
                <a:cs typeface="Calibri" pitchFamily="34" charset="-120"/>
              </a:rPr>
              <a:t>Abaqus recorded force, displacement, and energy at every time-step of every run, and saved all of it into one Excel file: gyroid_utkarsh_1_results.xlsx.</a:t>
            </a:r>
            <a:endParaRPr lang="en-US" sz="128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852160" y="1280160"/>
          <a:ext cx="2743200" cy="914400"/>
        </p:xfrm>
        <a:graphic>
          <a:graphicData uri="http://schemas.openxmlformats.org/drawingml/2006/table">
            <a:tbl>
              <a:tblPr/>
              <a:tblGrid>
                <a:gridCol w="1371600"/>
                <a:gridCol w="1371600"/>
              </a:tblGrid>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Geometry</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Fill %</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r>
              <a:tr h="29260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29.1</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9260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40.4</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9260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58.8</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9260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48.0</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9260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67.1</a:t>
                      </a:r>
                      <a:endParaRPr lang="en-US" sz="12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7" name="Text 4"/>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The Dataset</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Methodology (2 of 5)</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sp>
        <p:nvSpPr>
          <p:cNvPr id="5" name="Text 3"/>
          <p:cNvSpPr/>
          <p:nvPr/>
        </p:nvSpPr>
        <p:spPr>
          <a:xfrm>
            <a:off x="548640" y="1097280"/>
            <a:ext cx="8046720" cy="274320"/>
          </a:xfrm>
          <a:prstGeom prst="rect">
            <a:avLst/>
          </a:prstGeom>
          <a:noFill/>
          <a:ln/>
        </p:spPr>
        <p:txBody>
          <a:bodyPr wrap="square" lIns="0" tIns="0" rIns="0" bIns="0" rtlCol="0" anchor="ctr"/>
          <a:lstStyle/>
          <a:p>
            <a:pPr indent="0" marL="0">
              <a:buNone/>
            </a:pPr>
            <a:r>
              <a:rPr lang="en-US" sz="1200" i="1" dirty="0">
                <a:solidFill>
                  <a:srgbClr val="595959"/>
                </a:solidFill>
                <a:latin typeface="Calibri" pitchFamily="34" charset="0"/>
                <a:ea typeface="Calibri" pitchFamily="34" charset="-122"/>
                <a:cs typeface="Calibri" pitchFamily="34" charset="-120"/>
              </a:rPr>
              <a:t>gyroid_utkarsh_1_results.xlsx  —  Sheet1  —  2525 rows × 13 columns  —  each row is one time-step of one simulation run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08176"/>
          <a:ext cx="8046720" cy="914400"/>
        </p:xfrm>
        <a:graphic>
          <a:graphicData uri="http://schemas.openxmlformats.org/drawingml/2006/table">
            <a:tbl>
              <a:tblPr/>
              <a:tblGrid>
                <a:gridCol w="3017520"/>
                <a:gridCol w="5029200"/>
              </a:tblGrid>
              <a:tr h="27432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Column (as in Excel)</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What it means</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Simulation time, in seconds</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ALLIE(N.mm)</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Internal (strain) energy</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RF2(N)</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Reaction force at the loaded point</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U2(mm)</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Displacement of the loaded point</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Engineering_Stress(MPA)</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Stress — this is what we predict</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Engineering_Strain</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Strain (displacement ÷ height)</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Applied_Displacement(mm)</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Maximum displacement for that run</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Cross_Sectional_Area + 4 more</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The 5 shape settings: area, unit cell length, wall thickness, fill %, height</a:t>
                      </a:r>
                      <a:endParaRPr lang="en-US" sz="110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7" name="Text 4"/>
          <p:cNvSpPr/>
          <p:nvPr/>
        </p:nvSpPr>
        <p:spPr>
          <a:xfrm>
            <a:off x="548640" y="4343400"/>
            <a:ext cx="8046720" cy="548640"/>
          </a:xfrm>
          <a:prstGeom prst="rect">
            <a:avLst/>
          </a:prstGeom>
          <a:noFill/>
          <a:ln/>
        </p:spPr>
        <p:txBody>
          <a:bodyPr wrap="square" lIns="0" tIns="0" rIns="0" bIns="0" rtlCol="0" anchor="t"/>
          <a:lstStyle/>
          <a:p>
            <a:pPr indent="0" marL="0">
              <a:buNone/>
            </a:pPr>
            <a:r>
              <a:rPr lang="en-US" sz="1080" i="1" dirty="0">
                <a:solidFill>
                  <a:srgbClr val="595959"/>
                </a:solidFill>
                <a:latin typeface="Calibri" pitchFamily="34" charset="0"/>
                <a:ea typeface="Calibri" pitchFamily="34" charset="-122"/>
                <a:cs typeface="Calibri" pitchFamily="34" charset="-120"/>
              </a:rPr>
              <a:t>A column for kinetic energy (ALLKE) is also in the file but is not used as a model input. After cleaning (removing duplicate rows and the zero-load starting row of every run), 2525 rows become 2500 usable rows.</a:t>
            </a:r>
            <a:endParaRPr lang="en-US" sz="1080" dirty="0"/>
          </a:p>
        </p:txBody>
      </p:sp>
      <p:sp>
        <p:nvSpPr>
          <p:cNvPr id="8" name="Text 5"/>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Preprocessing the Data</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Methodology (3 of 5)</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sp>
        <p:nvSpPr>
          <p:cNvPr id="5" name="Text 3"/>
          <p:cNvSpPr/>
          <p:nvPr/>
        </p:nvSpPr>
        <p:spPr>
          <a:xfrm>
            <a:off x="548640" y="1115568"/>
            <a:ext cx="8046720" cy="256032"/>
          </a:xfrm>
          <a:prstGeom prst="rect">
            <a:avLst/>
          </a:prstGeom>
          <a:noFill/>
          <a:ln/>
        </p:spPr>
        <p:txBody>
          <a:bodyPr wrap="square" lIns="0" tIns="0" rIns="0" bIns="0" rtlCol="0" anchor="ctr"/>
          <a:lstStyle/>
          <a:p>
            <a:pPr indent="0" marL="0">
              <a:buNone/>
            </a:pPr>
            <a:r>
              <a:rPr lang="en-US" sz="1350" b="1" dirty="0">
                <a:solidFill>
                  <a:srgbClr val="1F4E79"/>
                </a:solidFill>
                <a:latin typeface="Calibri" pitchFamily="34" charset="0"/>
                <a:ea typeface="Calibri" pitchFamily="34" charset="-122"/>
                <a:cs typeface="Calibri" pitchFamily="34" charset="-120"/>
              </a:rPr>
              <a:t>1. One-Hot Encoding  (Geometry_ID → 5 columns)</a:t>
            </a:r>
            <a:endParaRPr lang="en-US" sz="1350" dirty="0"/>
          </a:p>
        </p:txBody>
      </p:sp>
      <p:sp>
        <p:nvSpPr>
          <p:cNvPr id="6" name="Text 4"/>
          <p:cNvSpPr/>
          <p:nvPr/>
        </p:nvSpPr>
        <p:spPr>
          <a:xfrm>
            <a:off x="548640" y="1371600"/>
            <a:ext cx="8046720" cy="621792"/>
          </a:xfrm>
          <a:prstGeom prst="rect">
            <a:avLst/>
          </a:prstGeom>
          <a:noFill/>
          <a:ln/>
        </p:spPr>
        <p:txBody>
          <a:bodyPr wrap="square" lIns="0" tIns="0" rIns="0" bIns="0" rtlCol="0" anchor="t"/>
          <a:lstStyle/>
          <a:p>
            <a:pPr indent="0" marL="0">
              <a:lnSpc>
                <a:spcPct val="103000"/>
              </a:lnSpc>
              <a:buNone/>
            </a:pPr>
            <a:r>
              <a:rPr lang="en-US" sz="1180" dirty="0">
                <a:solidFill>
                  <a:srgbClr val="000000"/>
                </a:solidFill>
                <a:latin typeface="Calibri" pitchFamily="34" charset="0"/>
                <a:ea typeface="Calibri" pitchFamily="34" charset="-122"/>
                <a:cs typeface="Calibri" pitchFamily="34" charset="-120"/>
              </a:rPr>
              <a:t>For every row, OneHotEncoder looks at which of the 5 geometries that row belongs to, and creates a 1 in that geometry's column and a 0 in the other four. This way the model sees “which shape is this” as five independent yes/no signals, instead of a single number that would wrongly suggest an order between shapes.</a:t>
            </a:r>
            <a:endParaRPr lang="en-US" sz="1180" dirty="0"/>
          </a:p>
        </p:txBody>
      </p:sp>
      <p:sp>
        <p:nvSpPr>
          <p:cNvPr id="7" name="Text 5"/>
          <p:cNvSpPr/>
          <p:nvPr/>
        </p:nvSpPr>
        <p:spPr>
          <a:xfrm>
            <a:off x="548640" y="2048256"/>
            <a:ext cx="8046720" cy="256032"/>
          </a:xfrm>
          <a:prstGeom prst="rect">
            <a:avLst/>
          </a:prstGeom>
          <a:noFill/>
          <a:ln/>
        </p:spPr>
        <p:txBody>
          <a:bodyPr wrap="square" lIns="0" tIns="0" rIns="0" bIns="0" rtlCol="0" anchor="ctr"/>
          <a:lstStyle/>
          <a:p>
            <a:pPr indent="0" marL="0">
              <a:buNone/>
            </a:pPr>
            <a:r>
              <a:rPr lang="en-US" sz="1350" b="1" dirty="0">
                <a:solidFill>
                  <a:srgbClr val="1F4E79"/>
                </a:solidFill>
                <a:latin typeface="Calibri" pitchFamily="34" charset="0"/>
                <a:ea typeface="Calibri" pitchFamily="34" charset="-122"/>
                <a:cs typeface="Calibri" pitchFamily="34" charset="-120"/>
              </a:rPr>
              <a:t>2. Standardization  (StandardScaler)</a:t>
            </a:r>
            <a:endParaRPr lang="en-US" sz="1350" dirty="0"/>
          </a:p>
        </p:txBody>
      </p:sp>
      <p:sp>
        <p:nvSpPr>
          <p:cNvPr id="8" name="Text 6"/>
          <p:cNvSpPr/>
          <p:nvPr/>
        </p:nvSpPr>
        <p:spPr>
          <a:xfrm>
            <a:off x="548640" y="2304288"/>
            <a:ext cx="8046720" cy="621792"/>
          </a:xfrm>
          <a:prstGeom prst="rect">
            <a:avLst/>
          </a:prstGeom>
          <a:noFill/>
          <a:ln/>
        </p:spPr>
        <p:txBody>
          <a:bodyPr wrap="square" lIns="0" tIns="0" rIns="0" bIns="0" rtlCol="0" anchor="t"/>
          <a:lstStyle/>
          <a:p>
            <a:pPr indent="0" marL="0">
              <a:lnSpc>
                <a:spcPct val="103000"/>
              </a:lnSpc>
              <a:buNone/>
            </a:pPr>
            <a:r>
              <a:rPr lang="en-US" sz="1180" dirty="0">
                <a:solidFill>
                  <a:srgbClr val="000000"/>
                </a:solidFill>
                <a:latin typeface="Calibri" pitchFamily="34" charset="0"/>
                <a:ea typeface="Calibri" pitchFamily="34" charset="-122"/>
                <a:cs typeface="Calibri" pitchFamily="34" charset="-120"/>
              </a:rPr>
              <a:t>For every numeric column, StandardScaler subtracts that column's mean and divides by its standard deviation: scaled value = (value − mean) ÷ standard deviation. Afterward, every numeric feature has a mean of 0 and a standard deviation of 1, so a feature like area (in the thousands) and strain (in the thousandths) are treated on equal footing.</a:t>
            </a:r>
            <a:endParaRPr lang="en-US" sz="1180" dirty="0"/>
          </a:p>
        </p:txBody>
      </p:sp>
      <p:sp>
        <p:nvSpPr>
          <p:cNvPr id="9" name="Text 7"/>
          <p:cNvSpPr/>
          <p:nvPr/>
        </p:nvSpPr>
        <p:spPr>
          <a:xfrm>
            <a:off x="548640" y="2980944"/>
            <a:ext cx="8046720" cy="256032"/>
          </a:xfrm>
          <a:prstGeom prst="rect">
            <a:avLst/>
          </a:prstGeom>
          <a:noFill/>
          <a:ln/>
        </p:spPr>
        <p:txBody>
          <a:bodyPr wrap="square" lIns="0" tIns="0" rIns="0" bIns="0" rtlCol="0" anchor="ctr"/>
          <a:lstStyle/>
          <a:p>
            <a:pPr indent="0" marL="0">
              <a:buNone/>
            </a:pPr>
            <a:r>
              <a:rPr lang="en-US" sz="1350" b="1" dirty="0">
                <a:solidFill>
                  <a:srgbClr val="1F4E79"/>
                </a:solidFill>
                <a:latin typeface="Calibri" pitchFamily="34" charset="0"/>
                <a:ea typeface="Calibri" pitchFamily="34" charset="-122"/>
                <a:cs typeface="Calibri" pitchFamily="34" charset="-120"/>
              </a:rPr>
              <a:t>3. Polynomial Features  (degree 2, Linear Regression only)</a:t>
            </a:r>
            <a:endParaRPr lang="en-US" sz="1350" dirty="0"/>
          </a:p>
        </p:txBody>
      </p:sp>
      <p:sp>
        <p:nvSpPr>
          <p:cNvPr id="10" name="Text 8"/>
          <p:cNvSpPr/>
          <p:nvPr/>
        </p:nvSpPr>
        <p:spPr>
          <a:xfrm>
            <a:off x="548640" y="3236976"/>
            <a:ext cx="8046720" cy="621792"/>
          </a:xfrm>
          <a:prstGeom prst="rect">
            <a:avLst/>
          </a:prstGeom>
          <a:noFill/>
          <a:ln/>
        </p:spPr>
        <p:txBody>
          <a:bodyPr wrap="square" lIns="0" tIns="0" rIns="0" bIns="0" rtlCol="0" anchor="t"/>
          <a:lstStyle/>
          <a:p>
            <a:pPr indent="0" marL="0">
              <a:lnSpc>
                <a:spcPct val="103000"/>
              </a:lnSpc>
              <a:buNone/>
            </a:pPr>
            <a:r>
              <a:rPr lang="en-US" sz="1180" dirty="0">
                <a:solidFill>
                  <a:srgbClr val="000000"/>
                </a:solidFill>
                <a:latin typeface="Calibri" pitchFamily="34" charset="0"/>
                <a:ea typeface="Calibri" pitchFamily="34" charset="-122"/>
                <a:cs typeface="Calibri" pitchFamily="34" charset="-120"/>
              </a:rPr>
              <a:t>PolynomialFeatures(degree=2) takes the 5 numeric features and adds every square (Strain², Fill_Percent², ...) and every pairwise product (Strain × Fill_Percent, ...) as new columns. This gives Linear Regression the curved building blocks it needs, even though the model itself only ever fits straight lines through whatever features it is given.</a:t>
            </a:r>
            <a:endParaRPr lang="en-US" sz="1180" dirty="0"/>
          </a:p>
        </p:txBody>
      </p:sp>
      <p:sp>
        <p:nvSpPr>
          <p:cNvPr id="11" name="Shape 9"/>
          <p:cNvSpPr/>
          <p:nvPr/>
        </p:nvSpPr>
        <p:spPr>
          <a:xfrm>
            <a:off x="548640" y="3913632"/>
            <a:ext cx="8046720" cy="0"/>
          </a:xfrm>
          <a:prstGeom prst="line">
            <a:avLst/>
          </a:prstGeom>
          <a:noFill/>
          <a:ln w="9525">
            <a:solidFill>
              <a:srgbClr val="BFBFBF"/>
            </a:solidFill>
            <a:prstDash val="solid"/>
          </a:ln>
        </p:spPr>
      </p:sp>
      <p:sp>
        <p:nvSpPr>
          <p:cNvPr id="12" name="Text 10"/>
          <p:cNvSpPr/>
          <p:nvPr/>
        </p:nvSpPr>
        <p:spPr>
          <a:xfrm>
            <a:off x="548640" y="4005072"/>
            <a:ext cx="8046720" cy="457200"/>
          </a:xfrm>
          <a:prstGeom prst="rect">
            <a:avLst/>
          </a:prstGeom>
          <a:noFill/>
          <a:ln/>
        </p:spPr>
        <p:txBody>
          <a:bodyPr wrap="square" lIns="0" tIns="0" rIns="0" bIns="0" rtlCol="0" anchor="t"/>
          <a:lstStyle/>
          <a:p>
            <a:pPr indent="0" marL="0">
              <a:buNone/>
            </a:pPr>
            <a:r>
              <a:rPr lang="en-US" sz="1100" i="1" dirty="0">
                <a:solidFill>
                  <a:srgbClr val="595959"/>
                </a:solidFill>
                <a:latin typeface="Calibri" pitchFamily="34" charset="0"/>
                <a:ea typeface="Calibri" pitchFamily="34" charset="-122"/>
                <a:cs typeface="Calibri" pitchFamily="34" charset="-120"/>
              </a:rPr>
              <a:t>Result: Linear Regression ends up with 30 input columns per row (5 one-hot + 5 scaled + 20 polynomial). Decision Tree uses only 10 (5 one-hot + 5 scaled) — it builds non-linear patterns on its own.</a:t>
            </a:r>
            <a:endParaRPr lang="en-US" sz="1100" dirty="0"/>
          </a:p>
        </p:txBody>
      </p:sp>
      <p:sp>
        <p:nvSpPr>
          <p:cNvPr id="13" name="Text 11"/>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Model 1: Linear Regression</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Methodology (4 of 5)</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sp>
        <p:nvSpPr>
          <p:cNvPr id="5" name="Text 3"/>
          <p:cNvSpPr/>
          <p:nvPr/>
        </p:nvSpPr>
        <p:spPr>
          <a:xfrm>
            <a:off x="548640" y="1188720"/>
            <a:ext cx="8046720" cy="3566160"/>
          </a:xfrm>
          <a:prstGeom prst="rect">
            <a:avLst/>
          </a:prstGeom>
          <a:noFill/>
          <a:ln/>
        </p:spPr>
        <p:txBody>
          <a:bodyPr wrap="square" lIns="0" tIns="0" rIns="0" bIns="0" rtlCol="0" anchor="t"/>
          <a:lstStyle/>
          <a:p>
            <a:pPr marL="203200" indent="-203200">
              <a:lnSpc>
                <a:spcPct val="103000"/>
              </a:lnSpc>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After preprocessing, Linear Regression receives 30 input columns for every row (5 one-hot geometry columns, 5 standardized numeric features, and 20 polynomial combinations of those features), and needs to learn one weight for each column plus one intercept: stress ≈ w₁x₁ + w₂x₂ + ... + b.</a:t>
            </a:r>
            <a:endParaRPr lang="en-US" sz="1300" dirty="0"/>
          </a:p>
          <a:p>
            <a:pPr marL="203200" indent="-203200">
              <a:lnSpc>
                <a:spcPct val="103000"/>
              </a:lnSpc>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During training, scikit-learn's LinearRegression solves directly for the weights that minimize the total squared error between predicted and actual stress across all 1750 training rows, a method called Ordinary Least Squares. This is solved in a single step using linear algebra, not by trial and error.</a:t>
            </a:r>
            <a:endParaRPr lang="en-US" sz="1300" dirty="0"/>
          </a:p>
          <a:p>
            <a:pPr marL="203200" indent="-203200">
              <a:lnSpc>
                <a:spcPct val="103000"/>
              </a:lnSpc>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To predict the stress of a new row, the model multiplies each of the 30 feature values by its learned weight, adds them all up along with the intercept, and that sum is the predicted stress.</a:t>
            </a:r>
            <a:endParaRPr lang="en-US" sz="1300" dirty="0"/>
          </a:p>
          <a:p>
            <a:pPr marL="203200" indent="-203200">
              <a:lnSpc>
                <a:spcPct val="103000"/>
              </a:lnSpc>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This approach works well here because, within the elastic region we simulated, stress truly is a linear function of strain (Hooke's Law), and the polynomial terms let the model also capture how a shape's geometry changes its effective stiffness.</a:t>
            </a:r>
            <a:endParaRPr lang="en-US" sz="1300" dirty="0"/>
          </a:p>
        </p:txBody>
      </p:sp>
      <p:sp>
        <p:nvSpPr>
          <p:cNvPr id="6" name="Text 4"/>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Model 2: Decision Tree</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Methodology (5 of 5)</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sp>
        <p:nvSpPr>
          <p:cNvPr id="5" name="Text 3"/>
          <p:cNvSpPr/>
          <p:nvPr/>
        </p:nvSpPr>
        <p:spPr>
          <a:xfrm>
            <a:off x="548640" y="1188720"/>
            <a:ext cx="8046720" cy="3566160"/>
          </a:xfrm>
          <a:prstGeom prst="rect">
            <a:avLst/>
          </a:prstGeom>
          <a:noFill/>
          <a:ln/>
        </p:spPr>
        <p:txBody>
          <a:bodyPr wrap="square" lIns="0" tIns="0" rIns="0" bIns="0" rtlCol="0" anchor="t"/>
          <a:lstStyle/>
          <a:p>
            <a:pPr marL="203200" indent="-203200">
              <a:lnSpc>
                <a:spcPct val="103000"/>
              </a:lnSpc>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After preprocessing, the Decision Tree receives 10 input columns for every row (5 one-hot geometry columns and 5 standardized numeric features) — it does not use the polynomial columns, because it can create non-linear patterns on its own through splitting.</a:t>
            </a:r>
            <a:endParaRPr lang="en-US" sz="1300" dirty="0"/>
          </a:p>
          <a:p>
            <a:pPr marL="203200" indent="-203200">
              <a:lnSpc>
                <a:spcPct val="103000"/>
              </a:lnSpc>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During training, scikit-learn's DecisionTreeRegressor examines every feature and every possible threshold, and picks the single split that reduces prediction error the most across the training rows. It then repeats this process separately on each of the two resulting groups, and keeps going until it reaches the depth limit of 10.</a:t>
            </a:r>
            <a:endParaRPr lang="en-US" sz="1300" dirty="0"/>
          </a:p>
          <a:p>
            <a:pPr marL="203200" indent="-203200">
              <a:lnSpc>
                <a:spcPct val="103000"/>
              </a:lnSpc>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To predict a new row's stress, the tree asks the same sequence of yes/no questions it learned (for example, “is Strain greater than 0.003?”, then another question, and so on) until it reaches a final leaf, and returns that leaf's stored average stress value as the prediction.</a:t>
            </a:r>
            <a:endParaRPr lang="en-US" sz="1300" dirty="0"/>
          </a:p>
          <a:p>
            <a:pPr marL="203200" indent="-203200">
              <a:lnSpc>
                <a:spcPct val="103000"/>
              </a:lnSpc>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Limiting the depth to 10 avoids overfitting: an unlimited tree would keep splitting until almost every leaf held just one or two training rows, effectively memorizing the training data instead of learning the general trend.</a:t>
            </a:r>
            <a:endParaRPr lang="en-US" sz="1300" dirty="0"/>
          </a:p>
        </p:txBody>
      </p:sp>
      <p:sp>
        <p:nvSpPr>
          <p:cNvPr id="6" name="Text 4"/>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Looking at the Data First</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Results (1 of 4)</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pic>
        <p:nvPicPr>
          <p:cNvPr id="5" name="Image 0" descr="/home/claude/project_v2/assets/01_eda_stress_strain.png">    </p:cNvPr>
          <p:cNvPicPr>
            <a:picLocks noChangeAspect="1"/>
          </p:cNvPicPr>
          <p:nvPr/>
        </p:nvPicPr>
        <p:blipFill>
          <a:blip r:embed="rId1"/>
          <a:stretch>
            <a:fillRect/>
          </a:stretch>
        </p:blipFill>
        <p:spPr>
          <a:xfrm>
            <a:off x="502920" y="1234440"/>
            <a:ext cx="4297680" cy="3044712"/>
          </a:xfrm>
          <a:prstGeom prst="rect">
            <a:avLst/>
          </a:prstGeom>
        </p:spPr>
      </p:pic>
      <p:sp>
        <p:nvSpPr>
          <p:cNvPr id="6" name="Text 3"/>
          <p:cNvSpPr/>
          <p:nvPr/>
        </p:nvSpPr>
        <p:spPr>
          <a:xfrm>
            <a:off x="5120640" y="1371600"/>
            <a:ext cx="3520440" cy="310896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250" dirty="0">
                <a:solidFill>
                  <a:srgbClr val="000000"/>
                </a:solidFill>
                <a:latin typeface="Calibri" pitchFamily="34" charset="0"/>
                <a:ea typeface="Calibri" pitchFamily="34" charset="-122"/>
                <a:cs typeface="Calibri" pitchFamily="34" charset="-120"/>
              </a:rPr>
              <a:t>Every shape gives a straight line starting from zero, which is exactly what basic physics predicts for elastic loading (Hooke's Law).</a:t>
            </a:r>
            <a:endParaRPr lang="en-US" sz="1250" dirty="0"/>
          </a:p>
          <a:p>
            <a:pPr marL="203200" indent="-203200">
              <a:lnSpc>
                <a:spcPct val="103000"/>
              </a:lnSpc>
              <a:spcAft>
                <a:spcPts val="900"/>
              </a:spcAft>
              <a:buSzPct val="100000"/>
              <a:buChar char="●"/>
            </a:pPr>
            <a:r>
              <a:rPr lang="en-US" sz="1250" dirty="0">
                <a:solidFill>
                  <a:srgbClr val="000000"/>
                </a:solidFill>
                <a:latin typeface="Calibri" pitchFamily="34" charset="0"/>
                <a:ea typeface="Calibri" pitchFamily="34" charset="-122"/>
                <a:cs typeface="Calibri" pitchFamily="34" charset="-120"/>
              </a:rPr>
              <a:t>Shapes with more material (higher fill %) are stiffer, so their line is steeper, meaning they reach a higher stress for the same amount of strain.</a:t>
            </a:r>
            <a:endParaRPr lang="en-US" sz="1250" dirty="0"/>
          </a:p>
          <a:p>
            <a:pPr marL="203200" indent="-203200">
              <a:lnSpc>
                <a:spcPct val="103000"/>
              </a:lnSpc>
              <a:spcAft>
                <a:spcPts val="900"/>
              </a:spcAft>
              <a:buSzPct val="100000"/>
              <a:buChar char="●"/>
            </a:pPr>
            <a:r>
              <a:rPr lang="en-US" sz="1250" dirty="0">
                <a:solidFill>
                  <a:srgbClr val="000000"/>
                </a:solidFill>
                <a:latin typeface="Calibri" pitchFamily="34" charset="0"/>
                <a:ea typeface="Calibri" pitchFamily="34" charset="-122"/>
                <a:cs typeface="Calibri" pitchFamily="34" charset="-120"/>
              </a:rPr>
              <a:t>This pattern, before we train any model, already hints at which factors will matter most for prediction.</a:t>
            </a:r>
            <a:endParaRPr lang="en-US" sz="1250" dirty="0"/>
          </a:p>
        </p:txBody>
      </p:sp>
      <p:sp>
        <p:nvSpPr>
          <p:cNvPr id="7" name="Text 4"/>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Which Model Predicts Better?</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Results (2 of 4)</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pic>
        <p:nvPicPr>
          <p:cNvPr id="5" name="Image 0" descr="/home/claude/project_v2/assets/03_model_comparison.png">    </p:cNvPr>
          <p:cNvPicPr>
            <a:picLocks noChangeAspect="1"/>
          </p:cNvPicPr>
          <p:nvPr/>
        </p:nvPicPr>
        <p:blipFill>
          <a:blip r:embed="rId1"/>
          <a:stretch>
            <a:fillRect/>
          </a:stretch>
        </p:blipFill>
        <p:spPr>
          <a:xfrm>
            <a:off x="2057400" y="1115568"/>
            <a:ext cx="5029200" cy="1723026"/>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88720" y="2948322"/>
          <a:ext cx="6766560" cy="914400"/>
        </p:xfrm>
        <a:graphic>
          <a:graphicData uri="http://schemas.openxmlformats.org/drawingml/2006/table">
            <a:tbl>
              <a:tblPr/>
              <a:tblGrid>
                <a:gridCol w="2560320"/>
                <a:gridCol w="1399032"/>
                <a:gridCol w="1399032"/>
                <a:gridCol w="1408176"/>
              </a:tblGrid>
              <a:tr h="292608">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R²</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MSE</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MAE</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r>
              <a:tr h="292608">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Linear Regression</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0.99990</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0.031</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0.144</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92608">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Decision Tree</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0.99954</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0.138</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0.276</a:t>
                      </a:r>
                      <a:endParaRPr lang="en-US" sz="1250" dirty="0">
                        <a:latin typeface="Calibri" charset="0"/>
                        <a:ea typeface="Calibri" charset="0"/>
                        <a:cs typeface="Calibri" charset="0"/>
                      </a:endParaRPr>
                    </a:p>
                  </a:txBody>
                  <a:tcPr marL="91440" marR="91440" marT="45720" marB="4572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7" name="Text 3"/>
          <p:cNvSpPr/>
          <p:nvPr/>
        </p:nvSpPr>
        <p:spPr>
          <a:xfrm>
            <a:off x="548640" y="4210194"/>
            <a:ext cx="8046720" cy="457200"/>
          </a:xfrm>
          <a:prstGeom prst="rect">
            <a:avLst/>
          </a:prstGeom>
          <a:noFill/>
          <a:ln/>
        </p:spPr>
        <p:txBody>
          <a:bodyPr wrap="square" lIns="0" tIns="0" rIns="0" bIns="0" rtlCol="0" anchor="t"/>
          <a:lstStyle/>
          <a:p>
            <a:pPr algn="ctr" indent="0" marL="0">
              <a:buNone/>
            </a:pPr>
            <a:r>
              <a:rPr lang="en-US" sz="1150" i="1" dirty="0">
                <a:solidFill>
                  <a:srgbClr val="595959"/>
                </a:solidFill>
                <a:latin typeface="Calibri" pitchFamily="34" charset="0"/>
                <a:ea typeface="Calibri" pitchFamily="34" charset="-122"/>
                <a:cs typeface="Calibri" pitchFamily="34" charset="-120"/>
              </a:rPr>
              <a:t>Linear Regression comes out ahead on every measure: R² closer to 1, and both MSE and MAE lower, meaning smaller average errors, in MPa, across the 750 test rows.</a:t>
            </a:r>
            <a:endParaRPr lang="en-US" sz="1150" dirty="0"/>
          </a:p>
        </p:txBody>
      </p:sp>
      <p:sp>
        <p:nvSpPr>
          <p:cNvPr id="8" name="Text 4"/>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What Actually Drives Stress?</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Results (3 of 4)</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pic>
        <p:nvPicPr>
          <p:cNvPr id="5" name="Image 0" descr="/home/claude/project_v2/assets/04_feature_importance.png">    </p:cNvPr>
          <p:cNvPicPr>
            <a:picLocks noChangeAspect="1"/>
          </p:cNvPicPr>
          <p:nvPr/>
        </p:nvPicPr>
        <p:blipFill>
          <a:blip r:embed="rId1"/>
          <a:stretch>
            <a:fillRect/>
          </a:stretch>
        </p:blipFill>
        <p:spPr>
          <a:xfrm>
            <a:off x="457200" y="1188720"/>
            <a:ext cx="4937760" cy="3360812"/>
          </a:xfrm>
          <a:prstGeom prst="rect">
            <a:avLst/>
          </a:prstGeom>
        </p:spPr>
      </p:pic>
      <p:sp>
        <p:nvSpPr>
          <p:cNvPr id="6" name="Text 3"/>
          <p:cNvSpPr/>
          <p:nvPr/>
        </p:nvSpPr>
        <p:spPr>
          <a:xfrm>
            <a:off x="5623560" y="1371600"/>
            <a:ext cx="3108960" cy="292608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230" dirty="0">
                <a:solidFill>
                  <a:srgbClr val="000000"/>
                </a:solidFill>
                <a:latin typeface="Calibri" pitchFamily="34" charset="0"/>
                <a:ea typeface="Calibri" pitchFamily="34" charset="-122"/>
                <a:cs typeface="Calibri" pitchFamily="34" charset="-120"/>
              </a:rPr>
              <a:t>Strain matters the most: about 78% of the prediction, matching Hooke's Law directly.</a:t>
            </a:r>
            <a:endParaRPr lang="en-US" sz="1230" dirty="0"/>
          </a:p>
          <a:p>
            <a:pPr marL="203200" indent="-203200">
              <a:lnSpc>
                <a:spcPct val="103000"/>
              </a:lnSpc>
              <a:spcAft>
                <a:spcPts val="900"/>
              </a:spcAft>
              <a:buSzPct val="100000"/>
              <a:buChar char="●"/>
            </a:pPr>
            <a:r>
              <a:rPr lang="en-US" sz="1230" dirty="0">
                <a:solidFill>
                  <a:srgbClr val="000000"/>
                </a:solidFill>
                <a:latin typeface="Calibri" pitchFamily="34" charset="0"/>
                <a:ea typeface="Calibri" pitchFamily="34" charset="-122"/>
                <a:cs typeface="Calibri" pitchFamily="34" charset="-120"/>
              </a:rPr>
              <a:t>Fill percentage comes next: about 17%, since it is the strongest geometric lever on how stiff a shape is.</a:t>
            </a:r>
            <a:endParaRPr lang="en-US" sz="1230" dirty="0"/>
          </a:p>
          <a:p>
            <a:pPr marL="203200" indent="-203200">
              <a:lnSpc>
                <a:spcPct val="103000"/>
              </a:lnSpc>
              <a:spcAft>
                <a:spcPts val="900"/>
              </a:spcAft>
              <a:buSzPct val="100000"/>
              <a:buChar char="●"/>
            </a:pPr>
            <a:r>
              <a:rPr lang="en-US" sz="1230" dirty="0">
                <a:solidFill>
                  <a:srgbClr val="000000"/>
                </a:solidFill>
                <a:latin typeface="Calibri" pitchFamily="34" charset="0"/>
                <a:ea typeface="Calibri" pitchFamily="34" charset="-122"/>
                <a:cs typeface="Calibri" pitchFamily="34" charset="-120"/>
              </a:rPr>
              <a:t>Everything else, area, length, thickness, and the individual shape labels, barely matters once strain and fill percentage are known.</a:t>
            </a:r>
            <a:endParaRPr lang="en-US" sz="1230" dirty="0"/>
          </a:p>
        </p:txBody>
      </p:sp>
      <p:sp>
        <p:nvSpPr>
          <p:cNvPr id="7" name="Text 4"/>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How Close Are the Predictions?</a:t>
            </a:r>
            <a:endParaRPr lang="en-US" sz="2600" dirty="0"/>
          </a:p>
        </p:txBody>
      </p:sp>
      <p:sp>
        <p:nvSpPr>
          <p:cNvPr id="3" name="Text 1"/>
          <p:cNvSpPr/>
          <p:nvPr/>
        </p:nvSpPr>
        <p:spPr>
          <a:xfrm>
            <a:off x="457200" y="731520"/>
            <a:ext cx="8229600" cy="256032"/>
          </a:xfrm>
          <a:prstGeom prst="rect">
            <a:avLst/>
          </a:prstGeom>
          <a:noFill/>
          <a:ln/>
        </p:spPr>
        <p:txBody>
          <a:bodyPr wrap="square" lIns="0" tIns="0" rIns="0" bIns="0"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Results (4 of 4)</a:t>
            </a:r>
            <a:endParaRPr lang="en-US" sz="1250" dirty="0"/>
          </a:p>
        </p:txBody>
      </p:sp>
      <p:sp>
        <p:nvSpPr>
          <p:cNvPr id="4" name="Shape 2"/>
          <p:cNvSpPr/>
          <p:nvPr/>
        </p:nvSpPr>
        <p:spPr>
          <a:xfrm>
            <a:off x="457200" y="1024128"/>
            <a:ext cx="8229600" cy="0"/>
          </a:xfrm>
          <a:prstGeom prst="line">
            <a:avLst/>
          </a:prstGeom>
          <a:noFill/>
          <a:ln w="12700">
            <a:solidFill>
              <a:srgbClr val="BFBFBF"/>
            </a:solidFill>
            <a:prstDash val="solid"/>
          </a:ln>
        </p:spPr>
      </p:sp>
      <p:pic>
        <p:nvPicPr>
          <p:cNvPr id="5" name="Image 0" descr="/home/claude/project_v2/assets/05_actual_vs_predicted.png">    </p:cNvPr>
          <p:cNvPicPr>
            <a:picLocks noChangeAspect="1"/>
          </p:cNvPicPr>
          <p:nvPr/>
        </p:nvPicPr>
        <p:blipFill>
          <a:blip r:embed="rId1"/>
          <a:stretch>
            <a:fillRect/>
          </a:stretch>
        </p:blipFill>
        <p:spPr>
          <a:xfrm>
            <a:off x="1234440" y="1188720"/>
            <a:ext cx="6675120" cy="2735336"/>
          </a:xfrm>
          <a:prstGeom prst="rect">
            <a:avLst/>
          </a:prstGeom>
        </p:spPr>
      </p:pic>
      <p:sp>
        <p:nvSpPr>
          <p:cNvPr id="6" name="Text 3"/>
          <p:cNvSpPr/>
          <p:nvPr/>
        </p:nvSpPr>
        <p:spPr>
          <a:xfrm>
            <a:off x="548640" y="4033784"/>
            <a:ext cx="8046720" cy="548640"/>
          </a:xfrm>
          <a:prstGeom prst="rect">
            <a:avLst/>
          </a:prstGeom>
          <a:noFill/>
          <a:ln/>
        </p:spPr>
        <p:txBody>
          <a:bodyPr wrap="square" lIns="0" tIns="0" rIns="0" bIns="0" rtlCol="0" anchor="t"/>
          <a:lstStyle/>
          <a:p>
            <a:pPr algn="ctr" indent="0" marL="0">
              <a:buNone/>
            </a:pPr>
            <a:r>
              <a:rPr lang="en-US" sz="1150" i="1" dirty="0">
                <a:solidFill>
                  <a:srgbClr val="595959"/>
                </a:solidFill>
                <a:latin typeface="Calibri" pitchFamily="34" charset="0"/>
                <a:ea typeface="Calibri" pitchFamily="34" charset="-122"/>
                <a:cs typeface="Calibri" pitchFamily="34" charset="-120"/>
              </a:rPr>
              <a:t>Left: predictions line up closely with the real values across the full stress range. Right: the errors (residuals) scatter randomly around zero with no funnel shape or trend, meaning the model is not systematically wrong at any particular stress level.</a:t>
            </a:r>
            <a:endParaRPr lang="en-US" sz="1150" dirty="0"/>
          </a:p>
        </p:txBody>
      </p:sp>
      <p:sp>
        <p:nvSpPr>
          <p:cNvPr id="7" name="Text 4"/>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Summary &amp; Conclusion</a:t>
            </a:r>
            <a:endParaRPr lang="en-US" sz="2600" dirty="0"/>
          </a:p>
        </p:txBody>
      </p:sp>
      <p:sp>
        <p:nvSpPr>
          <p:cNvPr id="3" name="Shape 1"/>
          <p:cNvSpPr/>
          <p:nvPr/>
        </p:nvSpPr>
        <p:spPr>
          <a:xfrm>
            <a:off x="457200" y="822960"/>
            <a:ext cx="8229600" cy="0"/>
          </a:xfrm>
          <a:prstGeom prst="line">
            <a:avLst/>
          </a:prstGeom>
          <a:noFill/>
          <a:ln w="12700">
            <a:solidFill>
              <a:srgbClr val="BFBFBF"/>
            </a:solidFill>
            <a:prstDash val="solid"/>
          </a:ln>
        </p:spPr>
      </p:sp>
      <p:sp>
        <p:nvSpPr>
          <p:cNvPr id="4" name="Text 2"/>
          <p:cNvSpPr/>
          <p:nvPr/>
        </p:nvSpPr>
        <p:spPr>
          <a:xfrm>
            <a:off x="548640" y="1143000"/>
            <a:ext cx="8046720" cy="3291840"/>
          </a:xfrm>
          <a:prstGeom prst="rect">
            <a:avLst/>
          </a:prstGeom>
          <a:noFill/>
          <a:ln/>
        </p:spPr>
        <p:txBody>
          <a:bodyPr wrap="square" lIns="0" tIns="0" rIns="0" bIns="0" rtlCol="0" anchor="t"/>
          <a:lstStyle/>
          <a:p>
            <a:pPr marL="203200" indent="-203200">
              <a:lnSpc>
                <a:spcPct val="103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Built on gyroid_utkarsh_1_results.xlsx: 2500 cleaned rows from 5 gyroid shapes, split 1750/750 for training and testing.</a:t>
            </a:r>
            <a:endParaRPr lang="en-US" sz="1300" dirty="0"/>
          </a:p>
          <a:p>
            <a:pPr marL="203200" indent="-203200">
              <a:lnSpc>
                <a:spcPct val="103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We built two models to predict gyroid stress instantly, instead of running a new Abaqus simulation every time.</a:t>
            </a:r>
            <a:endParaRPr lang="en-US" sz="1300" dirty="0"/>
          </a:p>
          <a:p>
            <a:pPr marL="203200" indent="-203200">
              <a:lnSpc>
                <a:spcPct val="103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Linear Regression (30 input columns, including polynomial terms) worked best: R² = 0.9999, staying very close to the real values.</a:t>
            </a:r>
            <a:endParaRPr lang="en-US" sz="1300" dirty="0"/>
          </a:p>
          <a:p>
            <a:pPr marL="203200" indent="-203200">
              <a:lnSpc>
                <a:spcPct val="103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Decision Tree (10 input columns, max depth 10) came in a close second: R² = 0.9995.</a:t>
            </a:r>
            <a:endParaRPr lang="en-US" sz="1300" dirty="0"/>
          </a:p>
          <a:p>
            <a:pPr marL="203200" indent="-203200">
              <a:lnSpc>
                <a:spcPct val="103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Strain and fill percentage are what matter most for predicting stress, matching basic physics.</a:t>
            </a:r>
            <a:endParaRPr lang="en-US" sz="1300" dirty="0"/>
          </a:p>
          <a:p>
            <a:pPr marL="203200" indent="-203200">
              <a:lnSpc>
                <a:spcPct val="103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This kind of model could save a lot of simulation time when exploring future gyroid designs.</a:t>
            </a:r>
            <a:endParaRPr lang="en-US" sz="1300" dirty="0"/>
          </a:p>
        </p:txBody>
      </p:sp>
      <p:sp>
        <p:nvSpPr>
          <p:cNvPr id="5" name="Shape 3"/>
          <p:cNvSpPr/>
          <p:nvPr/>
        </p:nvSpPr>
        <p:spPr>
          <a:xfrm>
            <a:off x="548640" y="4434840"/>
            <a:ext cx="8046720" cy="0"/>
          </a:xfrm>
          <a:prstGeom prst="line">
            <a:avLst/>
          </a:prstGeom>
          <a:noFill/>
          <a:ln w="9525">
            <a:solidFill>
              <a:srgbClr val="BFBFBF"/>
            </a:solidFill>
            <a:prstDash val="solid"/>
          </a:ln>
        </p:spPr>
      </p:sp>
      <p:sp>
        <p:nvSpPr>
          <p:cNvPr id="6" name="Text 4"/>
          <p:cNvSpPr/>
          <p:nvPr/>
        </p:nvSpPr>
        <p:spPr>
          <a:xfrm>
            <a:off x="548640" y="4572000"/>
            <a:ext cx="8046720" cy="365760"/>
          </a:xfrm>
          <a:prstGeom prst="rect">
            <a:avLst/>
          </a:prstGeom>
          <a:noFill/>
          <a:ln/>
        </p:spPr>
        <p:txBody>
          <a:bodyPr wrap="square" lIns="0" tIns="0" rIns="0" bIns="0" rtlCol="0" anchor="ctr"/>
          <a:lstStyle/>
          <a:p>
            <a:pPr algn="ctr" indent="0" marL="0">
              <a:buNone/>
            </a:pPr>
            <a:r>
              <a:rPr lang="en-US" sz="1500" b="1" dirty="0">
                <a:solidFill>
                  <a:srgbClr val="1F4E79"/>
                </a:solidFill>
                <a:latin typeface="Calibri" pitchFamily="34" charset="0"/>
                <a:ea typeface="Calibri" pitchFamily="34" charset="-122"/>
                <a:cs typeface="Calibri" pitchFamily="34" charset="-120"/>
              </a:rPr>
              <a:t>Thank you</a:t>
            </a:r>
            <a:endParaRPr lang="en-US" sz="1500" dirty="0"/>
          </a:p>
        </p:txBody>
      </p:sp>
      <p:sp>
        <p:nvSpPr>
          <p:cNvPr id="7" name="Text 5"/>
          <p:cNvSpPr/>
          <p:nvPr/>
        </p:nvSpPr>
        <p:spPr>
          <a:xfrm>
            <a:off x="8595360" y="4850892"/>
            <a:ext cx="365760" cy="22860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